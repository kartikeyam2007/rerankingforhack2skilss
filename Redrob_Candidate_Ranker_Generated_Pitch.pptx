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Roles</c:v>
                </c:pt>
              </c:strCache>
            </c:strRef>
          </c:tx>
          <c:spPr>
            <a:solidFill>
              <a:srgbClr val="FF3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RecSys</c:v>
                  </c:pt>
                  <c:pt idx="1">
                    <c:v>Applied ML</c:v>
                  </c:pt>
                  <c:pt idx="2">
                    <c:v>MLE</c:v>
                  </c:pt>
                  <c:pt idx="3">
                    <c:v>AI Eng</c:v>
                  </c:pt>
                  <c:pt idx="4">
                    <c:v>Data Sci</c:v>
                  </c:pt>
                  <c:pt idx="5">
                    <c:v>Search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17</c:v>
                </c:pt>
                <c:pt idx="2">
                  <c:v>13</c:v>
                </c:pt>
                <c:pt idx="3">
                  <c:v>11</c:v>
                </c:pt>
                <c:pt idx="4">
                  <c:v>9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818120" y="822960"/>
            <a:ext cx="3474720" cy="3474720"/>
          </a:xfrm>
          <a:prstGeom prst="ellipse">
            <a:avLst/>
          </a:prstGeom>
          <a:solidFill>
            <a:srgbClr val="FF3B57">
              <a:alpha val="14000"/>
            </a:srgbClr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138160" y="1078992"/>
            <a:ext cx="2834640" cy="2834640"/>
          </a:xfrm>
          <a:prstGeom prst="arc">
            <a:avLst/>
          </a:prstGeom>
          <a:noFill/>
          <a:ln w="50800">
            <a:solidFill>
              <a:srgbClr val="FF3B57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41080" y="1572768"/>
            <a:ext cx="1828800" cy="1828800"/>
          </a:xfrm>
          <a:prstGeom prst="arc">
            <a:avLst/>
          </a:prstGeom>
          <a:noFill/>
          <a:ln w="38100">
            <a:solidFill>
              <a:srgbClr val="38BDF8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" y="1170432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Recruiter Intelligence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Ranker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94944" y="2761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We brutally torch keyword-stuffed resumes and surgically extract the exact 100 elite engineers you actually want.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" y="3273552"/>
            <a:ext cx="1508760" cy="256032"/>
          </a:xfrm>
          <a:prstGeom prst="roundRect">
            <a:avLst>
              <a:gd name="adj" fmla="val 25000"/>
            </a:avLst>
          </a:prstGeom>
          <a:solidFill>
            <a:srgbClr val="FF3B57">
              <a:alpha val="94000"/>
            </a:srgbClr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86384" y="3328416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CPU-only final ranker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395728" y="3273552"/>
            <a:ext cx="1645920" cy="256032"/>
          </a:xfrm>
          <a:prstGeom prst="roundRect">
            <a:avLst>
              <a:gd name="adj" fmla="val 25000"/>
            </a:avLst>
          </a:prstGeom>
          <a:solidFill>
            <a:srgbClr val="38BDF8">
              <a:alpha val="9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468880" y="3328416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100K candidate corpus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224528" y="3273552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A78BFA">
              <a:alpha val="94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97680" y="3328416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Honeypot-aware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94944" y="4910328"/>
            <a:ext cx="3977640" cy="713232"/>
          </a:xfrm>
          <a:prstGeom prst="roundRect">
            <a:avLst>
              <a:gd name="adj" fmla="val 6410"/>
            </a:avLst>
          </a:prstGeom>
          <a:solidFill>
            <a:srgbClr val="172033"/>
          </a:solidFill>
          <a:ln w="762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" y="510235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Team Name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965960" y="5029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Kartikeya AI Recruiter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" y="5715000"/>
            <a:ext cx="3977640" cy="475488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6112" y="58704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Team Leader: Kartikeya Krishna Mishra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95160" y="544982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Problem Statement: Problem: Keyword filters are for dinosaurs. We aggressively rank top-tier talent by ruthless evidence.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5160" y="5888736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4A3B8"/>
                </a:solidFill>
              </a:rPr>
              <a:t>Generated for the Redrob AI/Data challenge idea submission template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762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The Blueprint of Domination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Why our engine obliterates primitive keyword matching.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326880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Redrob Candidate Ranker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B57"/>
                </a:solidFill>
              </a:rPr>
              <a:t>Core idea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48920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t>We rip apart the JD, then interrogate every candidate's history. If they lack hard proof, hunger, and ironclad integrity, they get axed.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170432"/>
            <a:ext cx="2514600" cy="932688"/>
          </a:xfrm>
          <a:prstGeom prst="roundRect">
            <a:avLst>
              <a:gd name="adj" fmla="val 5882"/>
            </a:avLst>
          </a:prstGeom>
          <a:solidFill>
            <a:srgbClr val="172033"/>
          </a:solidFill>
          <a:ln w="12700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00216" y="12984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02552" y="130759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role intent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02552" y="1581912"/>
            <a:ext cx="185623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seniority, production ML, retrieval/ranking, evaluation, product context, location and availability needs.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8942832" y="1170432"/>
            <a:ext cx="2514600" cy="932688"/>
          </a:xfrm>
          <a:prstGeom prst="roundRect">
            <a:avLst>
              <a:gd name="adj" fmla="val 5882"/>
            </a:avLst>
          </a:prstGeom>
          <a:solidFill>
            <a:srgbClr val="172033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70848" y="12984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73184" y="130759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full candidate story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473184" y="1581912"/>
            <a:ext cx="185623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title, history, skills, tenure, company context, activity and assessment signals — not only skill tokens.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172200" y="2542032"/>
            <a:ext cx="2514600" cy="932688"/>
          </a:xfrm>
          <a:prstGeom prst="roundRect">
            <a:avLst>
              <a:gd name="adj" fmla="val 5882"/>
            </a:avLst>
          </a:prstGeom>
          <a:solidFill>
            <a:srgbClr val="172033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00216" y="26700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02552" y="267919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with evidence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02552" y="2953512"/>
            <a:ext cx="185623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recruiter-fit, semantic fit, BM25-style evidence, career proof, behavior and risk penalties.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8942832" y="2542032"/>
            <a:ext cx="2514600" cy="932688"/>
          </a:xfrm>
          <a:prstGeom prst="roundRect">
            <a:avLst>
              <a:gd name="adj" fmla="val 5882"/>
            </a:avLst>
          </a:prstGeom>
          <a:solidFill>
            <a:srgbClr val="172033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070848" y="26700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73184" y="267919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shortlist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73184" y="2953512"/>
            <a:ext cx="185623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 top 100 with grounded reasons pulled from observable profile evidence and profile-integrity checks.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914400" y="4005072"/>
            <a:ext cx="10195560" cy="0"/>
          </a:xfrm>
          <a:prstGeom prst="line">
            <a:avLst/>
          </a:prstGeom>
          <a:noFill/>
          <a:ln w="1651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1560" y="3703320"/>
            <a:ext cx="914400" cy="914400"/>
          </a:xfrm>
          <a:prstGeom prst="ellipse">
            <a:avLst/>
          </a:prstGeom>
          <a:solidFill>
            <a:srgbClr val="94A3B8">
              <a:alpha val="98000"/>
            </a:srgbClr>
          </a:solidFill>
          <a:ln w="1397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124712" y="405079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filters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11680" y="4160520"/>
            <a:ext cx="1115568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200400" y="3703320"/>
            <a:ext cx="914400" cy="914400"/>
          </a:xfrm>
          <a:prstGeom prst="ellipse">
            <a:avLst/>
          </a:prstGeom>
          <a:solidFill>
            <a:srgbClr val="38BDF8">
              <a:alpha val="98000"/>
            </a:srgbClr>
          </a:solidFill>
          <a:ln w="1397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273552" y="405079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retrieval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160520" y="4160520"/>
            <a:ext cx="1115568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349240" y="3703320"/>
            <a:ext cx="914400" cy="914400"/>
          </a:xfrm>
          <a:prstGeom prst="ellipse">
            <a:avLst/>
          </a:prstGeom>
          <a:solidFill>
            <a:srgbClr val="FF3B57">
              <a:alpha val="98000"/>
            </a:srgbClr>
          </a:solidFill>
          <a:ln w="13970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422392" y="405079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Recruiter heuristics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309360" y="4160520"/>
            <a:ext cx="1115568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498080" y="3703320"/>
            <a:ext cx="914400" cy="914400"/>
          </a:xfrm>
          <a:prstGeom prst="ellipse">
            <a:avLst/>
          </a:prstGeom>
          <a:solidFill>
            <a:srgbClr val="A78BFA">
              <a:alpha val="98000"/>
            </a:srgbClr>
          </a:solidFill>
          <a:ln w="1397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571232" y="405079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controls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458200" y="4160520"/>
            <a:ext cx="1115568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646920" y="3703320"/>
            <a:ext cx="914400" cy="914400"/>
          </a:xfrm>
          <a:prstGeom prst="ellipse">
            <a:avLst/>
          </a:prstGeom>
          <a:solidFill>
            <a:srgbClr val="22C55E">
              <a:alpha val="98000"/>
            </a:srgbClr>
          </a:solidFill>
          <a:ln w="1397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720072" y="405079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Trustworthy shortlist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280160" y="525780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The Kicker: We reward battle-tested engineers and mercilessly penalize posers stuffing resumes with buzzwords.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536192" y="5696712"/>
            <a:ext cx="9006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Legacy systems ask 'did they type the word?' We ask 'can this person actually ship code?'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762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Interrogating the JD &amp; Exposing Candidates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Extracting the raw truth, ignoring the fluff.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326880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Redrob Candidate Ranker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JD facets extracted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" y="1536192"/>
            <a:ext cx="4892040" cy="4114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4445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62763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8FAFC"/>
                </a:solidFill>
              </a:rPr>
              <a:t>Production retrieval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2487168" y="1627632"/>
            <a:ext cx="2880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semantic search, vector/hybrid retrieval, ranking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694944" y="2139696"/>
            <a:ext cx="4892040" cy="4114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4445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231136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8FAFC"/>
                </a:solidFill>
              </a:rPr>
              <a:t>Evaluation depth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2487168" y="2231136"/>
            <a:ext cx="2880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NDCG, MRR, MAP, A/B tests, offline eval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94944" y="2743200"/>
            <a:ext cx="4892040" cy="4114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4445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28346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8FAFC"/>
                </a:solidFill>
              </a:rPr>
              <a:t>Applied ML seniority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2487168" y="2834640"/>
            <a:ext cx="2880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5–9 years, Python, production ownership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694944" y="3346704"/>
            <a:ext cx="4892040" cy="4114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4445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3438144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8FAFC"/>
                </a:solidFill>
              </a:rPr>
              <a:t>Product context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2487168" y="3438144"/>
            <a:ext cx="2880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search, discovery, marketplace, candidate matching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694944" y="3950208"/>
            <a:ext cx="4892040" cy="4114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4445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404164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8FAFC"/>
                </a:solidFill>
              </a:rPr>
              <a:t>Behavioral readiness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2487168" y="4041648"/>
            <a:ext cx="2880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active, open-to-work, notice period, response rate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6400800" y="11430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Candidate signals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73952" y="1627632"/>
            <a:ext cx="749808" cy="749808"/>
          </a:xfrm>
          <a:prstGeom prst="ellipse">
            <a:avLst/>
          </a:prstGeom>
          <a:solidFill>
            <a:srgbClr val="FF3B57">
              <a:alpha val="98000"/>
            </a:srgbClr>
          </a:solidFill>
          <a:ln w="13970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47104" y="189280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proof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28432" y="1627632"/>
            <a:ext cx="749808" cy="749808"/>
          </a:xfrm>
          <a:prstGeom prst="ellipse">
            <a:avLst/>
          </a:prstGeom>
          <a:solidFill>
            <a:srgbClr val="38BDF8">
              <a:alpha val="98000"/>
            </a:srgbClr>
          </a:solidFill>
          <a:ln w="1397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101584" y="189280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depth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582912" y="1627632"/>
            <a:ext cx="749808" cy="749808"/>
          </a:xfrm>
          <a:prstGeom prst="ellipse">
            <a:avLst/>
          </a:prstGeom>
          <a:solidFill>
            <a:srgbClr val="22C55E">
              <a:alpha val="98000"/>
            </a:srgbClr>
          </a:solidFill>
          <a:ln w="1397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56064" y="189280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242048" y="2697480"/>
            <a:ext cx="749808" cy="749808"/>
          </a:xfrm>
          <a:prstGeom prst="ellipse">
            <a:avLst/>
          </a:prstGeom>
          <a:solidFill>
            <a:srgbClr val="A78BFA">
              <a:alpha val="98000"/>
            </a:srgbClr>
          </a:solidFill>
          <a:ln w="1397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315200" y="296265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Integrity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796528" y="2697480"/>
            <a:ext cx="749808" cy="749808"/>
          </a:xfrm>
          <a:prstGeom prst="ellipse">
            <a:avLst/>
          </a:prstGeom>
          <a:solidFill>
            <a:srgbClr val="FFB454">
              <a:alpha val="98000"/>
            </a:srgbClr>
          </a:solidFill>
          <a:ln w="13970">
            <a:solidFill>
              <a:srgbClr val="FFB45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869680" y="296265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223760" y="2002536"/>
            <a:ext cx="77724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778240" y="2002536"/>
            <a:ext cx="77724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616952" y="2368296"/>
            <a:ext cx="9144" cy="310896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171432" y="2368296"/>
            <a:ext cx="0" cy="310896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876288" y="3730752"/>
            <a:ext cx="3822192" cy="384048"/>
          </a:xfrm>
          <a:prstGeom prst="roundRect">
            <a:avLst>
              <a:gd name="adj" fmla="val 9524"/>
            </a:avLst>
          </a:prstGeom>
          <a:solidFill>
            <a:srgbClr val="172033"/>
          </a:solidFill>
          <a:ln w="7620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132320" y="385876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The Kill Score = Hard Proof + Hunger - BS Risk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446520" y="45902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The Apex Signal Hierarchy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46520" y="495604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</a:rPr>
              <a:t>Career evidence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8092440" y="4974336"/>
            <a:ext cx="260604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8092440" y="4974336"/>
            <a:ext cx="2475738" cy="73152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46520" y="521208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</a:rPr>
              <a:t>Retrieval/ranking proof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8092440" y="5230368"/>
            <a:ext cx="260604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8092440" y="5230368"/>
            <a:ext cx="2345436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446520" y="546811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</a:rPr>
              <a:t>Behavioral readiness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8092440" y="5486400"/>
            <a:ext cx="260604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8092440" y="5486400"/>
            <a:ext cx="1876349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446520" y="572414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</a:rPr>
              <a:t>Location/seniority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8092440" y="5742432"/>
            <a:ext cx="260604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8092440" y="5742432"/>
            <a:ext cx="1772107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446520" y="598017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BD5E1"/>
                </a:solidFill>
              </a:rPr>
              <a:t>Keyword overlap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8092440" y="5998464"/>
            <a:ext cx="260604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8092440" y="5998464"/>
            <a:ext cx="990295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762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The Execution Matrix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Surgical retrieval, ruthless scoring, and ironclad rank fusion.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326880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Redrob Candidate Ranker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70432"/>
            <a:ext cx="1783080" cy="932688"/>
          </a:xfrm>
          <a:prstGeom prst="roundRect">
            <a:avLst>
              <a:gd name="adj" fmla="val 5882"/>
            </a:avLst>
          </a:prstGeom>
          <a:solidFill>
            <a:srgbClr val="172033"/>
          </a:solidFill>
          <a:ln w="12700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9536" y="12984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130759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61872" y="1581912"/>
            <a:ext cx="112471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JSONL → profile text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2542032" y="1636776"/>
            <a:ext cx="2743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907792" y="1170432"/>
            <a:ext cx="1783080" cy="932688"/>
          </a:xfrm>
          <a:prstGeom prst="roundRect">
            <a:avLst>
              <a:gd name="adj" fmla="val 5882"/>
            </a:avLst>
          </a:prstGeom>
          <a:solidFill>
            <a:srgbClr val="172033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035808" y="12984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38144" y="130759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Prefilter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38144" y="1581912"/>
            <a:ext cx="112471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100K → candidate pool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4718304" y="1636776"/>
            <a:ext cx="2743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84064" y="1170432"/>
            <a:ext cx="1783080" cy="932688"/>
          </a:xfrm>
          <a:prstGeom prst="roundRect">
            <a:avLst>
              <a:gd name="adj" fmla="val 5882"/>
            </a:avLst>
          </a:prstGeom>
          <a:solidFill>
            <a:srgbClr val="172033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12080" y="12984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14416" y="130759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14416" y="1581912"/>
            <a:ext cx="112471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facet + career + behavior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6894576" y="1636776"/>
            <a:ext cx="2743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60336" y="1170432"/>
            <a:ext cx="1783080" cy="932688"/>
          </a:xfrm>
          <a:prstGeom prst="roundRect">
            <a:avLst>
              <a:gd name="adj" fmla="val 5882"/>
            </a:avLst>
          </a:prstGeom>
          <a:solidFill>
            <a:srgbClr val="172033"/>
          </a:solidFill>
          <a:ln w="12700">
            <a:solidFill>
              <a:srgbClr val="FFB45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88352" y="12984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90688" y="130759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90688" y="1581912"/>
            <a:ext cx="112471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honeypot and risk gates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9070848" y="1636776"/>
            <a:ext cx="2743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436608" y="1170432"/>
            <a:ext cx="1783080" cy="932688"/>
          </a:xfrm>
          <a:prstGeom prst="roundRect">
            <a:avLst>
              <a:gd name="adj" fmla="val 5882"/>
            </a:avLst>
          </a:prstGeom>
          <a:solidFill>
            <a:srgbClr val="172033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564624" y="12984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966960" y="130759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966960" y="1581912"/>
            <a:ext cx="112471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fusion → top 100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786384" y="2907792"/>
            <a:ext cx="5175504" cy="2560320"/>
          </a:xfrm>
          <a:prstGeom prst="roundRect">
            <a:avLst>
              <a:gd name="adj" fmla="val 1786"/>
            </a:avLst>
          </a:prstGeom>
          <a:solidFill>
            <a:srgbClr val="172033"/>
          </a:solidFill>
          <a:ln w="762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24128" y="3154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Final scoring stack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24128" y="361188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Recruiter fit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2834640" y="361188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</a:rPr>
              <a:t>22%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337560" y="3639312"/>
            <a:ext cx="214884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337560" y="3639312"/>
            <a:ext cx="1890979" cy="73152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24128" y="386791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Semantic facets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2834640" y="3867912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</a:rPr>
              <a:t>18%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3337560" y="3895344"/>
            <a:ext cx="214884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337560" y="3895344"/>
            <a:ext cx="154716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024128" y="41239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BM25 evidence</a:t>
            </a:r>
            <a:endParaRPr lang="en-US" sz="730" dirty="0"/>
          </a:p>
        </p:txBody>
      </p:sp>
      <p:sp>
        <p:nvSpPr>
          <p:cNvPr id="42" name="Text 40"/>
          <p:cNvSpPr/>
          <p:nvPr/>
        </p:nvSpPr>
        <p:spPr>
          <a:xfrm>
            <a:off x="2834640" y="412394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</a:rPr>
              <a:t>14%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3337560" y="4151376"/>
            <a:ext cx="214884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3337560" y="4151376"/>
            <a:ext cx="1203350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024128" y="437997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Teacher-style heuristic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2834640" y="437997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</a:rPr>
              <a:t>18%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3337560" y="4407408"/>
            <a:ext cx="214884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3337560" y="4407408"/>
            <a:ext cx="1547165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024128" y="463600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Career proof</a:t>
            </a: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2834640" y="463600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</a:rPr>
              <a:t>12%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3337560" y="4663440"/>
            <a:ext cx="214884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3337560" y="4663440"/>
            <a:ext cx="1031443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024128" y="489204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Behavior/location</a:t>
            </a:r>
            <a:endParaRPr lang="en-US" sz="730" dirty="0"/>
          </a:p>
        </p:txBody>
      </p:sp>
      <p:sp>
        <p:nvSpPr>
          <p:cNvPr id="54" name="Text 52"/>
          <p:cNvSpPr/>
          <p:nvPr/>
        </p:nvSpPr>
        <p:spPr>
          <a:xfrm>
            <a:off x="2834640" y="48920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</a:rPr>
              <a:t>16%</a:t>
            </a:r>
            <a:endParaRPr lang="en-US" sz="730" dirty="0"/>
          </a:p>
        </p:txBody>
      </p:sp>
      <p:sp>
        <p:nvSpPr>
          <p:cNvPr id="55" name="Shape 53"/>
          <p:cNvSpPr/>
          <p:nvPr/>
        </p:nvSpPr>
        <p:spPr>
          <a:xfrm>
            <a:off x="3337560" y="4919472"/>
            <a:ext cx="214884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3337560" y="4919472"/>
            <a:ext cx="1375258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400800" y="2907792"/>
            <a:ext cx="4800600" cy="2560320"/>
          </a:xfrm>
          <a:prstGeom prst="roundRect">
            <a:avLst>
              <a:gd name="adj" fmla="val 1786"/>
            </a:avLst>
          </a:prstGeom>
          <a:solidFill>
            <a:srgbClr val="172033"/>
          </a:solidFill>
          <a:ln w="762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656832" y="3154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Risk-aware fusion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656832" y="35661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Final Score = technical fit × behavioral readiness − integrity penalties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656832" y="404164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Reciprocal rank fusion stabilizes disagreement across sub-rankers.</a:t>
            </a:r>
            <a:endParaRPr lang="en-US" sz="870" dirty="0"/>
          </a:p>
        </p:txBody>
      </p:sp>
      <p:sp>
        <p:nvSpPr>
          <p:cNvPr id="61" name="Text 59"/>
          <p:cNvSpPr/>
          <p:nvPr/>
        </p:nvSpPr>
        <p:spPr>
          <a:xfrm>
            <a:off x="6656832" y="43708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Honeypot profiles are penalized before the top-100 cutoff.</a:t>
            </a:r>
            <a:endParaRPr lang="en-US" sz="870" dirty="0"/>
          </a:p>
        </p:txBody>
      </p:sp>
      <p:sp>
        <p:nvSpPr>
          <p:cNvPr id="62" name="Text 60"/>
          <p:cNvSpPr/>
          <p:nvPr/>
        </p:nvSpPr>
        <p:spPr>
          <a:xfrm>
            <a:off x="6656832" y="47000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Explanations are generated from matched evidence, not imagined claims.</a:t>
            </a:r>
            <a:endParaRPr lang="en-US" sz="870" dirty="0"/>
          </a:p>
        </p:txBody>
      </p:sp>
      <p:sp>
        <p:nvSpPr>
          <p:cNvPr id="63" name="Shape 61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762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Receipts &amp; Bulletproof Validation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How we keep our decisions savage but perfectly auditable.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326880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Redrob Candidate Ranker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808" y="1133856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Every top pick comes with undeniable receipts: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6384" y="1600200"/>
            <a:ext cx="5349240" cy="1243584"/>
          </a:xfrm>
          <a:prstGeom prst="roundRect">
            <a:avLst>
              <a:gd name="adj" fmla="val 3676"/>
            </a:avLst>
          </a:prstGeom>
          <a:solidFill>
            <a:srgbClr val="172033"/>
          </a:solidFill>
          <a:ln w="10160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18105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3B57"/>
                </a:solidFill>
              </a:rPr>
              <a:t>Example explanation pattern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7552" y="21031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</a:rPr>
              <a:t>“Senior ML Engineer with 7.2 years in Noida; profile shows production semantic search, retrieval evaluation, vector search and marketplace ranking evidence. Behavioral signals indicate high readiness and no integrity flags.”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4389120" cy="73152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9525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01968" y="148132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67728" y="144475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Supported claims only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67728" y="167335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Reason uses title, skills, history and activity fields.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400800" y="2423160"/>
            <a:ext cx="4389120" cy="73152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9525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01968" y="262432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67728" y="258775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Poser Annihilation System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67728" y="281635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Incinerates impossible timelines, pathetic AI keyword stuffing, and flat-out lies.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400800" y="3566160"/>
            <a:ext cx="4389120" cy="73152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9525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01968" y="376732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67728" y="373075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Flawless Output Guarantee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67728" y="395935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Exactly 100 rows. No duplicates. Descending order of pure talent.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868680" y="3822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Integrity penalties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4224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skill with tiny duration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932688" y="4544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duration mismatch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32688" y="4864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keyword stuffing without history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932688" y="5184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Wrong-domain profiles masked by keywords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32688" y="5504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Research-only / tutorial-only evidence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419088" y="4791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Zero Delusions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19088" y="51389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If they didn't do it, we don't invent it. Period.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762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The Meat Grinder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From raw JD to an elite top 100 shortlist.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326880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Redrob Candidate Ranker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960120" cy="960120"/>
          </a:xfrm>
          <a:prstGeom prst="ellipse">
            <a:avLst/>
          </a:prstGeom>
          <a:solidFill>
            <a:srgbClr val="FF3B57">
              <a:alpha val="98000"/>
            </a:srgbClr>
          </a:solidFill>
          <a:ln w="13970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4672" y="187909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26426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role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requirements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09928" y="1984248"/>
            <a:ext cx="694944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560320" y="1508760"/>
            <a:ext cx="960120" cy="960120"/>
          </a:xfrm>
          <a:prstGeom prst="ellipse">
            <a:avLst/>
          </a:prstGeom>
          <a:solidFill>
            <a:srgbClr val="38BDF8">
              <a:alpha val="98000"/>
            </a:srgbClr>
          </a:solidFill>
          <a:ln w="1397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33472" y="187909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423160" y="26426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100K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candidates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538728" y="1984248"/>
            <a:ext cx="694944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389120" y="1508760"/>
            <a:ext cx="960120" cy="960120"/>
          </a:xfrm>
          <a:prstGeom prst="ellipse">
            <a:avLst/>
          </a:prstGeom>
          <a:solidFill>
            <a:srgbClr val="A78BFA">
              <a:alpha val="98000"/>
            </a:srgbClr>
          </a:solidFill>
          <a:ln w="1397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462272" y="187909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251960" y="26426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career + skill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behavior + risk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367528" y="1984248"/>
            <a:ext cx="694944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17920" y="1508760"/>
            <a:ext cx="960120" cy="960120"/>
          </a:xfrm>
          <a:prstGeom prst="ellipse">
            <a:avLst/>
          </a:prstGeom>
          <a:solidFill>
            <a:srgbClr val="FFB454">
              <a:alpha val="98000"/>
            </a:srgbClr>
          </a:solidFill>
          <a:ln w="13970">
            <a:solidFill>
              <a:srgbClr val="FFB45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91072" y="187909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Rankers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80760" y="26426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rule + semantic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BM25 + teacher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196328" y="1984248"/>
            <a:ext cx="694944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046720" y="1508760"/>
            <a:ext cx="960120" cy="960120"/>
          </a:xfrm>
          <a:prstGeom prst="ellipse">
            <a:avLst/>
          </a:prstGeom>
          <a:solidFill>
            <a:srgbClr val="22C55E">
              <a:alpha val="98000"/>
            </a:srgbClr>
          </a:solidFill>
          <a:ln w="1397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19872" y="187909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909560" y="26426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stable final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ranking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025128" y="1984248"/>
            <a:ext cx="694944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875520" y="1508760"/>
            <a:ext cx="960120" cy="960120"/>
          </a:xfrm>
          <a:prstGeom prst="ellipse">
            <a:avLst/>
          </a:prstGeom>
          <a:solidFill>
            <a:srgbClr val="FF3B57">
              <a:alpha val="98000"/>
            </a:srgbClr>
          </a:solidFill>
          <a:ln w="13970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948672" y="187909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738360" y="26426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top 100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with reasons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14400" y="3703320"/>
            <a:ext cx="10241280" cy="1463040"/>
          </a:xfrm>
          <a:prstGeom prst="roundRect">
            <a:avLst>
              <a:gd name="adj" fmla="val 3125"/>
            </a:avLst>
          </a:prstGeom>
          <a:solidFill>
            <a:srgbClr val="172033"/>
          </a:solidFill>
          <a:ln w="762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133856" y="39684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Runtime behavior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33856" y="43891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evaluation command is deterministic: python rank.py --candidates candidates.jsonl --out submission.csv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3856" y="473659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API calls, no hosted models, no GPU dependency and no manual CSV editing.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02552" y="4096512"/>
            <a:ext cx="585216" cy="585216"/>
          </a:xfrm>
          <a:prstGeom prst="arc">
            <a:avLst/>
          </a:prstGeom>
          <a:noFill/>
          <a:ln w="2794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360920" y="4069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370064" y="441655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full-corpus generation time in local run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8942832" y="4096512"/>
            <a:ext cx="585216" cy="585216"/>
          </a:xfrm>
          <a:prstGeom prst="arc">
            <a:avLst/>
          </a:prstGeom>
          <a:noFill/>
          <a:ln w="2794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601200" y="4069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610344" y="441655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candidates emitted exactly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762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The Engine Room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A lethal, stripped-down architecture built for raw speed on CPU.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326880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Redrob Candidate Ranker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32688" y="1051560"/>
            <a:ext cx="10058400" cy="585216"/>
          </a:xfrm>
          <a:prstGeom prst="roundRect">
            <a:avLst>
              <a:gd name="adj" fmla="val 7813"/>
            </a:avLst>
          </a:prstGeom>
          <a:solidFill>
            <a:srgbClr val="172033"/>
          </a:solidFill>
          <a:ln w="9525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70432" y="1216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Input 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99232" y="121615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BD5E1"/>
                </a:solidFill>
              </a:rPr>
              <a:t>candidates.jsonl, JD facets, metadata config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5989320" y="1673352"/>
            <a:ext cx="0" cy="219456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32688" y="1929384"/>
            <a:ext cx="10058400" cy="585216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9525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70432" y="20939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Parsing &amp; Normalization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99232" y="209397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BD5E1"/>
                </a:solidFill>
              </a:rPr>
              <a:t>profile text, titles, career spans, skill objects, behavioral fields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989320" y="2551176"/>
            <a:ext cx="0" cy="219456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32688" y="2807208"/>
            <a:ext cx="10058400" cy="585216"/>
          </a:xfrm>
          <a:prstGeom prst="roundRect">
            <a:avLst>
              <a:gd name="adj" fmla="val 7813"/>
            </a:avLst>
          </a:prstGeom>
          <a:solidFill>
            <a:srgbClr val="172033"/>
          </a:solidFill>
          <a:ln w="9525">
            <a:solidFill>
              <a:srgbClr val="FFB45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70432" y="29718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454"/>
                </a:solidFill>
              </a:rPr>
              <a:t>Feature Layer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99232" y="297180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BD5E1"/>
                </a:solidFill>
              </a:rPr>
              <a:t>role fit, evidence counts, seniority, tenure, readiness, integrity risk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989320" y="3429000"/>
            <a:ext cx="0" cy="219456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32688" y="3685032"/>
            <a:ext cx="10058400" cy="585216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9525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70432" y="3849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B57"/>
                </a:solidFill>
              </a:rPr>
              <a:t>Ranking Layer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99232" y="384962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BD5E1"/>
                </a:solidFill>
              </a:rPr>
              <a:t>rule ranker, semantic-style facets, BM25-style evidence, teacher heuristic, fusion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989320" y="4306824"/>
            <a:ext cx="0" cy="219456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32688" y="4562856"/>
            <a:ext cx="10058400" cy="585216"/>
          </a:xfrm>
          <a:prstGeom prst="roundRect">
            <a:avLst>
              <a:gd name="adj" fmla="val 7813"/>
            </a:avLst>
          </a:prstGeom>
          <a:solidFill>
            <a:srgbClr val="172033"/>
          </a:solidFill>
          <a:ln w="9525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70432" y="47274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Output Layer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99232" y="472744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BD5E1"/>
                </a:solidFill>
              </a:rPr>
              <a:t>submission.csv, top_debug.jsonl, Streamlit sandbox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1005840" y="57150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3B57"/>
                </a:solidFill>
              </a:rPr>
              <a:t>Design principle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569671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Sophisticated ranking logic, but simple final execution: plain Python modules with one minimal dependency for fast JSONL parsing.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762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The Scoreboard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Cold hard proof that our engine is wildly fast and bulletproof.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326880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Redrob Candidate Ranker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13816" y="1161288"/>
            <a:ext cx="585216" cy="585216"/>
          </a:xfrm>
          <a:prstGeom prst="arc">
            <a:avLst/>
          </a:prstGeom>
          <a:noFill/>
          <a:ln w="2794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72184" y="1133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81328" y="148132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profiles processed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3182112" y="1161288"/>
            <a:ext cx="585216" cy="585216"/>
          </a:xfrm>
          <a:prstGeom prst="arc">
            <a:avLst/>
          </a:prstGeom>
          <a:noFill/>
          <a:ln w="2794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840480" y="11338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9624" y="148132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output rows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5404104" y="1161288"/>
            <a:ext cx="585216" cy="585216"/>
          </a:xfrm>
          <a:prstGeom prst="arc">
            <a:avLst/>
          </a:prstGeom>
          <a:noFill/>
          <a:ln w="2794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62472" y="113385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71616" y="1481328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duplicates or missing fields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7909560" y="1161288"/>
            <a:ext cx="585216" cy="585216"/>
          </a:xfrm>
          <a:prstGeom prst="arc">
            <a:avLst/>
          </a:prstGeom>
          <a:noFill/>
          <a:ln w="27940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67928" y="113385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~22s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77072" y="1481328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CPU runtime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786384" y="2468880"/>
            <a:ext cx="5166360" cy="2926080"/>
          </a:xfrm>
          <a:prstGeom prst="roundRect">
            <a:avLst>
              <a:gd name="adj" fmla="val 1563"/>
            </a:avLst>
          </a:prstGeom>
          <a:solidFill>
            <a:srgbClr val="172033"/>
          </a:solidFill>
          <a:ln w="762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24128" y="27249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Top-100 title mix</a:t>
            </a:r>
            <a:endParaRPr lang="en-US" sz="1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1024128" y="3127248"/>
          <a:ext cx="44348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400800" y="2468880"/>
            <a:ext cx="4800600" cy="2926080"/>
          </a:xfrm>
          <a:prstGeom prst="roundRect">
            <a:avLst>
              <a:gd name="adj" fmla="val 1563"/>
            </a:avLst>
          </a:prstGeom>
          <a:solidFill>
            <a:srgbClr val="172033"/>
          </a:solidFill>
          <a:ln w="762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620256" y="27249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Evidence coverage in top 100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629400" y="32186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Retrieval evidence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549640" y="3255264"/>
            <a:ext cx="1828800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497312" y="32186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8FAFC"/>
                </a:solidFill>
              </a:rPr>
              <a:t>100%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629400" y="356616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Ranking/eval evidence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549640" y="3602736"/>
            <a:ext cx="1792224" cy="82296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341864" y="3602736"/>
            <a:ext cx="36576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0497312" y="35661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8FAFC"/>
                </a:solidFill>
              </a:rPr>
              <a:t>98%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6629400" y="39136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RecSys/marketplace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8549640" y="3950208"/>
            <a:ext cx="1682496" cy="822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232136" y="3950208"/>
            <a:ext cx="146304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10497312" y="391363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8FAFC"/>
                </a:solidFill>
              </a:rPr>
              <a:t>92%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6629400" y="426110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Production evidence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8549640" y="4297680"/>
            <a:ext cx="1152144" cy="822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01784" y="4297680"/>
            <a:ext cx="676656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10497312" y="4261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8FAFC"/>
                </a:solidFill>
              </a:rPr>
              <a:t>63%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6629400" y="460857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Integrity penalty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8549640" y="4645152"/>
            <a:ext cx="0" cy="82296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8549640" y="4645152"/>
            <a:ext cx="182880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10497312" y="46085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8FAFC"/>
                </a:solidFill>
              </a:rPr>
              <a:t>0%</a:t>
            </a:r>
            <a:endParaRPr lang="en-US" sz="720" dirty="0"/>
          </a:p>
        </p:txBody>
      </p:sp>
      <p:sp>
        <p:nvSpPr>
          <p:cNvPr id="43" name="Text 40"/>
          <p:cNvSpPr/>
          <p:nvPr/>
        </p:nvSpPr>
        <p:spPr>
          <a:xfrm>
            <a:off x="1024128" y="571500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Insight: We extract actual search and NLP killers, leaving the prompt-kiddies in the dust.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762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pic>
        <p:nvPicPr>
          <p:cNvPr id="46" name="Picture 45" descr="final_ranked_results_17809124831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28800"/>
            <a:ext cx="4114800" cy="39131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Our Weaponry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Tools hand-picked for maximum carnage and zero failure.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326880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Redrob Candidate Ranker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225296"/>
            <a:ext cx="4663440" cy="786384"/>
          </a:xfrm>
          <a:prstGeom prst="roundRect">
            <a:avLst>
              <a:gd name="adj" fmla="val 5814"/>
            </a:avLst>
          </a:prstGeom>
          <a:solidFill>
            <a:srgbClr val="172033"/>
          </a:solidFill>
          <a:ln w="9525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78992" y="140817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Python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4081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</a:rPr>
              <a:t>Core ranking logic and reproducible CLI execution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309360" y="1225296"/>
            <a:ext cx="4663440" cy="786384"/>
          </a:xfrm>
          <a:prstGeom prst="roundRect">
            <a:avLst>
              <a:gd name="adj" fmla="val 5814"/>
            </a:avLst>
          </a:prstGeom>
          <a:solidFill>
            <a:srgbClr val="172033"/>
          </a:solidFill>
          <a:ln w="9525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65392" y="140817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orjson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01000" y="14081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</a:rPr>
              <a:t>Fast JSONL parsing for large candidate corpus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22960" y="2551176"/>
            <a:ext cx="4663440" cy="786384"/>
          </a:xfrm>
          <a:prstGeom prst="roundRect">
            <a:avLst>
              <a:gd name="adj" fmla="val 5814"/>
            </a:avLst>
          </a:prstGeom>
          <a:solidFill>
            <a:srgbClr val="172033"/>
          </a:solidFill>
          <a:ln w="9525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78992" y="273405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B57"/>
                </a:solidFill>
              </a:rPr>
              <a:t>Streamlit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7340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</a:rPr>
              <a:t>Optional sandbox to upload JSONL and preview ranked CSV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309360" y="2551176"/>
            <a:ext cx="4663440" cy="786384"/>
          </a:xfrm>
          <a:prstGeom prst="roundRect">
            <a:avLst>
              <a:gd name="adj" fmla="val 5814"/>
            </a:avLst>
          </a:prstGeom>
          <a:solidFill>
            <a:srgbClr val="172033"/>
          </a:solidFill>
          <a:ln w="9525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65392" y="273405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Hybrid Retrieval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27340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</a:rPr>
              <a:t>JD facets + candidate evidence scoring without network dependency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22960" y="3877056"/>
            <a:ext cx="4663440" cy="786384"/>
          </a:xfrm>
          <a:prstGeom prst="roundRect">
            <a:avLst>
              <a:gd name="adj" fmla="val 5814"/>
            </a:avLst>
          </a:prstGeom>
          <a:solidFill>
            <a:srgbClr val="172033"/>
          </a:solidFill>
          <a:ln w="9525">
            <a:solidFill>
              <a:srgbClr val="FFB45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78992" y="40599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</a:rPr>
              <a:t>Rank Fusion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40599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</a:rPr>
              <a:t>Combines sub-rankers and reduces single-model failure risk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309360" y="3877056"/>
            <a:ext cx="4663440" cy="786384"/>
          </a:xfrm>
          <a:prstGeom prst="roundRect">
            <a:avLst>
              <a:gd name="adj" fmla="val 5814"/>
            </a:avLst>
          </a:prstGeom>
          <a:solidFill>
            <a:srgbClr val="172033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65392" y="40599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CSV Validator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01000" y="40599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</a:rPr>
              <a:t>Checks exact rows, ranks, schema, duplicates and score order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005840" y="5440680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34440" y="559612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Why no heavy bloated LLMs in the final script?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11880" y="5577840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Because relying on slow APIs is for amateurs. We pre-compute the heavy lifting so our final CLI is blindingly fast and strictly offline.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762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108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The Arsenal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758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Everything you need to verify our dominance.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326880" y="384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Redrob Candidate Ranker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77824" y="1060704"/>
            <a:ext cx="5120640" cy="438912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762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78992" y="118872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2C55E"/>
                </a:solidFill>
              </a:rPr>
              <a:t>submission.csv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2633472" y="1188720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100 ranked candidates with score and grounded reasoning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877824" y="1755648"/>
            <a:ext cx="5120640" cy="438912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762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78992" y="188366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38BDF8"/>
                </a:solidFill>
              </a:rPr>
              <a:t>rank.py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2633472" y="1883664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Single command CPU-only ranker for challenge reproduction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877824" y="2450592"/>
            <a:ext cx="5120640" cy="438912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762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78992" y="257860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A78BFA"/>
                </a:solidFill>
              </a:rPr>
              <a:t>src/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2633472" y="2578608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Modular feature extraction, fusion and reasoning logic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877824" y="3145536"/>
            <a:ext cx="5120640" cy="438912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7620">
            <a:solidFill>
              <a:srgbClr val="FFB45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78992" y="327355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B454"/>
                </a:solidFill>
              </a:rPr>
              <a:t>top_debug.jsonl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2633472" y="327355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Detailed audit trail for the top 100 candidate decisions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877824" y="3840480"/>
            <a:ext cx="5120640" cy="438912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7620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78992" y="396849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3B57"/>
                </a:solidFill>
              </a:rPr>
              <a:t>app.py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2633472" y="3968496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Streamlit sandbox for upload-and-rank demonstration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77824" y="4535424"/>
            <a:ext cx="5120640" cy="438912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762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78992" y="466344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94A3B8"/>
                </a:solidFill>
              </a:rPr>
              <a:t>README.md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2633472" y="4663440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Approach summary, run commands and architecture notes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6492240" y="1234440"/>
            <a:ext cx="4389120" cy="3520440"/>
          </a:xfrm>
          <a:prstGeom prst="roundRect">
            <a:avLst>
              <a:gd name="adj" fmla="val 1299"/>
            </a:avLst>
          </a:prstGeom>
          <a:solidFill>
            <a:srgbClr val="172033"/>
          </a:solidFill>
          <a:ln w="762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48272" y="14996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Final run command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48272" y="1938528"/>
            <a:ext cx="3858768" cy="822960"/>
          </a:xfrm>
          <a:prstGeom prst="roundRect">
            <a:avLst>
              <a:gd name="adj" fmla="val 3333"/>
            </a:avLst>
          </a:prstGeom>
          <a:solidFill>
            <a:srgbClr val="05070C"/>
          </a:solidFill>
          <a:ln w="635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931152" y="2167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rank.py --candidates candidates.jsonl --out submission.csv --debug top_debug.jsonl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6748272" y="3127248"/>
            <a:ext cx="3858768" cy="676656"/>
          </a:xfrm>
          <a:prstGeom prst="roundRect">
            <a:avLst>
              <a:gd name="adj" fmla="val 4054"/>
            </a:avLst>
          </a:prstGeom>
          <a:solidFill>
            <a:srgbClr val="05070C"/>
          </a:solidFill>
          <a:ln w="635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931152" y="3364992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validate_submission.py submission.csv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6748272" y="42245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B57"/>
                </a:solidFill>
              </a:rPr>
              <a:t>GitHub / Video / Demo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48272" y="4462272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CBD5E1"/>
                </a:solidFill>
              </a:rPr>
              <a:t>Add final repository URL and demo video link in submission_metadata.yaml before upload.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762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57"/>
          </a:solidFill>
          <a:ln w="12700">
            <a:solidFill>
              <a:srgbClr val="FF3B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652760" y="164592"/>
            <a:ext cx="960120" cy="960120"/>
          </a:xfrm>
          <a:prstGeom prst="arc">
            <a:avLst/>
          </a:prstGeom>
          <a:noFill/>
          <a:ln w="50800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1560" y="5349240"/>
            <a:ext cx="1097280" cy="1097280"/>
          </a:xfrm>
          <a:prstGeom prst="arc">
            <a:avLst/>
          </a:prstGeom>
          <a:noFill/>
          <a:ln w="38100">
            <a:solidFill>
              <a:srgbClr val="38BDF8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5727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to shortlist the right people,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the loudest keywords.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278892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Recruiter-style reasoning • hybrid retrieval • behavioral readiness • honeypot-aware validation • CPU-only reproducibility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51560" y="4160520"/>
            <a:ext cx="2834640" cy="786384"/>
          </a:xfrm>
          <a:prstGeom prst="roundRect">
            <a:avLst>
              <a:gd name="adj" fmla="val 5814"/>
            </a:avLst>
          </a:prstGeom>
          <a:solidFill>
            <a:srgbClr val="172033"/>
          </a:solidFill>
          <a:ln w="9525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16152" y="437083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t>What if they use weird jargon?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1216152" y="465429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t>Our semantic engine sees right through the syntax to find the raw operational capability.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4434840" y="4160520"/>
            <a:ext cx="2834640" cy="786384"/>
          </a:xfrm>
          <a:prstGeom prst="roundRect">
            <a:avLst>
              <a:gd name="adj" fmla="val 5814"/>
            </a:avLst>
          </a:prstGeom>
          <a:solidFill>
            <a:srgbClr val="172033"/>
          </a:solidFill>
          <a:ln w="9525">
            <a:solidFill>
              <a:srgbClr val="FF3B5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99432" y="437083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t>What if they lie on their resume?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599432" y="465429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t>Our integrity penalties incinerate liars instantly.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7818120" y="4160520"/>
            <a:ext cx="2834640" cy="786384"/>
          </a:xfrm>
          <a:prstGeom prst="roundRect">
            <a:avLst>
              <a:gd name="adj" fmla="val 5814"/>
            </a:avLst>
          </a:prstGeom>
          <a:solidFill>
            <a:srgbClr val="172033"/>
          </a:solidFill>
          <a:ln w="9525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982712" y="437083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t>Can it survive the challenge constraints?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7982712" y="465429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t>Absolutely. No network, no GPUs, just pure optimized destruction.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4892040" y="5870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You're Welcome.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762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Kartikeya AI Recruiter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Recruiter Intelligence Candidate Ranker</dc:title>
  <dc:subject>Redrob Candidate Ranking Challenge Submission</dc:subject>
  <dc:creator>Kartikeya AI Recruiter</dc:creator>
  <cp:lastModifiedBy>Kartikeya AI Recruiter</cp:lastModifiedBy>
  <cp:revision>1</cp:revision>
  <dcterms:created xsi:type="dcterms:W3CDTF">2026-06-08T09:29:42Z</dcterms:created>
  <dcterms:modified xsi:type="dcterms:W3CDTF">2026-06-08T09:29:42Z</dcterms:modified>
</cp:coreProperties>
</file>